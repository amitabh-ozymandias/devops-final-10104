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Plus Jakarta Sans"/>
      <ns0:bold ns1:id="rIdFont19"/>
      <ns0:regular ns1:id="rIdFont20"/>
    </ns0:embeddedFont>
    <ns0:embeddedFont>
      <ns0:font typeface="JetBrains Mono"/>
      <ns0:bold ns1:id="rIdFont21"/>
      <ns0:regular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7c55b2a2-592d-4715-a146-0205e1045bc4.fntdata" /><ns0:Relationship Id="rIdFont20" Type="http://schemas.openxmlformats.org/officeDocument/2006/relationships/font" Target="fonts/0fbb2ccc-3e52-420c-a9d2-f207e6a645ab.fntdata" /><ns0:Relationship Id="rIdFont21" Type="http://schemas.openxmlformats.org/officeDocument/2006/relationships/font" Target="fonts/491d5053-639a-403d-9ab0-58367bbc8c71.fntdata" /><ns0:Relationship Id="rIdFont22" Type="http://schemas.openxmlformats.org/officeDocument/2006/relationships/font" Target="fonts/6c98dc7a-076d-41c0-b414-522298c92ab4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580483"/>
            <a:ext cx="2057400" cy="381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19400" y="4580483"/>
            <a:ext cx="1924050" cy="381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4694783"/>
            <a:ext cx="19050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5" y="4694783"/>
            <a:ext cx="13335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1896516"/>
            <a:ext cx="53697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JetBrains Mono"/>
              </a:rPr>
              <a:t>DEVOPS CAPSTONE PROJECT • FINAL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48941"/>
            <a:ext cx="9101137" cy="1226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F8FAFC"/>
                </a:solidFill>
                <a:latin typeface="Plus Jakarta Sans"/>
              </a:rPr>
              <a:t>SpendWise: Modern Cloud-Native Delivery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666083"/>
            <a:ext cx="6953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End-to-end multi-tier microservices architecture with automated CI/CD, Trivy security scanning, IaC, and Kubernetes orchestration.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4685258"/>
            <a:ext cx="1762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2E8F0"/>
                </a:solidFill>
                <a:latin typeface="Plus Jakarta Sans"/>
              </a:rPr>
              <a:t>Amitabh-Ozymandias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8975" y="4685258"/>
            <a:ext cx="1666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2E8F0"/>
                </a:solidFill>
                <a:latin typeface="Plus Jakarta Sans"/>
              </a:rPr>
              <a:t>DevOps-Final-10104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90837"/>
            <a:ext cx="3505200" cy="2085975"/>
          </a:xfrm>
          <a:prstGeom prst="roundRect">
            <a:avLst>
              <a:gd name="adj" fmla="val 54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90837"/>
            <a:ext cx="3505200" cy="2085975"/>
          </a:xfrm>
          <a:prstGeom prst="roundRect">
            <a:avLst>
              <a:gd name="adj" fmla="val 54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05137"/>
            <a:ext cx="3505200" cy="1857375"/>
          </a:xfrm>
          <a:prstGeom prst="roundRect">
            <a:avLst>
              <a:gd name="adj" fmla="val 61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05162"/>
            <a:ext cx="3048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205162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319462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EXECUTIVE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Platform Engineering Architecture Highlights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624262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3-Tier Full-Stack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976687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FastAPI backend, React single-page frontend, and PostgreSQL persistent store.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624262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DevSecOps Guardrails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3976687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Automated pytest runs, Trivy vulnerability scans, and strict non-root Docker builds.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738562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Kubernetes &amp; Helm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4090987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Helm chart deployments on Kind cluster with NGINX ingress routing.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86087"/>
            <a:ext cx="3454449" cy="1971675"/>
          </a:xfrm>
          <a:prstGeom prst="roundRect">
            <a:avLst>
              <a:gd name="adj" fmla="val 77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986087"/>
            <a:ext cx="3454449" cy="1971675"/>
          </a:xfrm>
          <a:prstGeom prst="roundRect">
            <a:avLst>
              <a:gd name="adj" fmla="val 77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986087"/>
            <a:ext cx="3454449" cy="1971675"/>
          </a:xfrm>
          <a:prstGeom prst="roundRect">
            <a:avLst>
              <a:gd name="adj" fmla="val 77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PERFORMANCE &amp; RELIABILITY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Production Readiness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50" y="3376612"/>
            <a:ext cx="3722749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2563EB"/>
                </a:solidFill>
                <a:latin typeface="Plus Jakarta Sans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50" y="4138612"/>
            <a:ext cx="37227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Automated Test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50" y="4395787"/>
            <a:ext cx="372274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13/13 Pytest unit &amp; health suites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34699" y="3376612"/>
            <a:ext cx="3722749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16A34A"/>
                </a:solidFill>
                <a:latin typeface="Plus Jakarta Sans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4699" y="4138612"/>
            <a:ext cx="37227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Critical Vulnerabilities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4699" y="4395787"/>
            <a:ext cx="372274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Verified by Trivy container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3949" y="3376612"/>
            <a:ext cx="3722749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0284C7"/>
                </a:solidFill>
                <a:latin typeface="Plus Jakarta Sans"/>
              </a:rPr>
              <a:t>2m 34s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3949" y="4138612"/>
            <a:ext cx="37227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Total Pipeline Runtime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3949" y="4395787"/>
            <a:ext cx="372274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Complete lint, build, scan &amp; deploy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72175" y="2976562"/>
            <a:ext cx="5610225" cy="1838325"/>
          </a:xfrm>
          <a:prstGeom prst="roundRect">
            <a:avLst>
              <a:gd name="adj" fmla="val 82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86500" y="3719512"/>
            <a:ext cx="101917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00925" y="3719512"/>
            <a:ext cx="78105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77225" y="3719512"/>
            <a:ext cx="66675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39225" y="3719512"/>
            <a:ext cx="10763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210800" y="3719512"/>
            <a:ext cx="8096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86500" y="4157662"/>
            <a:ext cx="75247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4225" y="4157662"/>
            <a:ext cx="6191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48600" y="4157662"/>
            <a:ext cx="10382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776537"/>
            <a:ext cx="419100" cy="4191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586162"/>
            <a:ext cx="419100" cy="4191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395787"/>
            <a:ext cx="419100" cy="4191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12" y="2890837"/>
            <a:ext cx="219075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7" y="3700462"/>
            <a:ext cx="238125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4510087"/>
            <a:ext cx="171450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SYSTEM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Application &amp; Infra Stack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500" y="3290887"/>
            <a:ext cx="5905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CORE STACK TECHNOLOGIES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850" y="3795712"/>
            <a:ext cx="847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Python 3.12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34275" y="3795712"/>
            <a:ext cx="6096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FastAPI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0575" y="3795712"/>
            <a:ext cx="495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React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2575" y="3795712"/>
            <a:ext cx="9048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44150" y="3795712"/>
            <a:ext cx="6381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Alembic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850" y="4233862"/>
            <a:ext cx="5810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Docker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7575" y="4233862"/>
            <a:ext cx="447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Helm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1950" y="4233862"/>
            <a:ext cx="8667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Kubernetes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1100" y="2776537"/>
            <a:ext cx="578822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React Single Page Application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1100" y="3033712"/>
            <a:ext cx="4505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Lightweight UI built with Node 22, served via unprivileged NGINX alpine reverse proxy.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1100" y="3586162"/>
            <a:ext cx="578822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FastAPI Python Microservice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1100" y="3843337"/>
            <a:ext cx="4505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Asynchronous Python backend with Alembic SQL migrations and Prometheus health metrics.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1100" y="4395787"/>
            <a:ext cx="578822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PostgreSQL Relational Storage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1100" y="4652962"/>
            <a:ext cx="4505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Isolated database tier with transactional DDL schema management and volume persistence.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66850"/>
            <a:ext cx="5334000" cy="4857750"/>
          </a:xfrm>
          <a:prstGeom prst="roundRect">
            <a:avLst>
              <a:gd name="adj" fmla="val 23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466850"/>
            <a:ext cx="5334000" cy="4857750"/>
          </a:xfrm>
          <a:prstGeom prst="roundRect">
            <a:avLst>
              <a:gd name="adj" fmla="val 23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747837"/>
            <a:ext cx="22860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1747837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QUALITY ASSURANCE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Comprehensive Automated Testing Suite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8725" y="1743075"/>
            <a:ext cx="362545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Pytest Integration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2133600"/>
            <a:ext cx="4876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Expense CRUD Tests: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Validates creation, listing, updating, and deletion.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2628900"/>
            <a:ext cx="5976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Input Validation: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Ensures reject mechanics on malformed payloads.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2943225"/>
            <a:ext cx="5976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HTTP Error Guards: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Confirms 404 handler integrity for missing IDs.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257550"/>
            <a:ext cx="5976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Category Analytics: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Verifies aggregate expense summaries.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67525" y="1743075"/>
            <a:ext cx="388798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Observability &amp; Health Endpoint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2133600"/>
            <a:ext cx="5667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Health Probes: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Active verification of 200 OK service responses.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2447925"/>
            <a:ext cx="5667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Readiness Checks: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Validates live backend-to-database connection.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2762250"/>
            <a:ext cx="5667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Prometheus Metrics: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Exposes open telemetry metrics format.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5" y="3076575"/>
            <a:ext cx="5667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Execution Performance: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Entire 13-test suite completes in 0.92s.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328987"/>
            <a:ext cx="350520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328987"/>
            <a:ext cx="350520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328987"/>
            <a:ext cx="350520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LOCAL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Docker Compose Local Stack 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605212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Multi-Stage Builds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900487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Optimized wheels and lightweight image footprints.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605212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Automated Migrations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900487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Alembic upgrades execute automatically on container boot.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605212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Isolated Networking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900487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Dedicated bridge network connects backend, frontend &amp; DB.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76587"/>
            <a:ext cx="186690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86075" y="3252787"/>
            <a:ext cx="1866900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62550" y="3252787"/>
            <a:ext cx="1866900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39025" y="3252787"/>
            <a:ext cx="1866900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715500" y="3252787"/>
            <a:ext cx="1866900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90650" y="341471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67125" y="349091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0" y="349091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0075" y="349091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496550" y="349091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3886200"/>
            <a:ext cx="104775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375" y="3886200"/>
            <a:ext cx="104775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850" y="3886200"/>
            <a:ext cx="104775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8325" y="3886200"/>
            <a:ext cx="104775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AUTOMATION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GitHub Actions Pipeline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7775" y="3414712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435" y="3833812"/>
            <a:ext cx="182522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Lint &amp;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893" y="4071937"/>
            <a:ext cx="1738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Runs Pytest and frontend build sanity checks.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4250" y="3490912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06910" y="3910012"/>
            <a:ext cx="182522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Docker 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50368" y="4148137"/>
            <a:ext cx="173831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Builds multi-tier images using Docker Buildx.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0725" y="3490912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3385" y="3910012"/>
            <a:ext cx="182522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Trivy Scan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26843" y="4148137"/>
            <a:ext cx="173831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Audits images for high and critical CVEs.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77200" y="3490912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9860" y="3910012"/>
            <a:ext cx="182522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GHCR Push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03318" y="4148137"/>
            <a:ext cx="173831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Publishes commit SHA tagged images.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53675" y="3490912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Plus Jakarta San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6335" y="3910012"/>
            <a:ext cx="182522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Kind Deploy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79793" y="4148137"/>
            <a:ext cx="173831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Deploys Helm release to target K8s cluster.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00337"/>
            <a:ext cx="5648325" cy="2390775"/>
          </a:xfrm>
          <a:prstGeom prst="roundRect">
            <a:avLst>
              <a:gd name="adj" fmla="val 47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23925" y="3986212"/>
            <a:ext cx="5019675" cy="790575"/>
          </a:xfrm>
          <a:prstGeom prst="roundRect">
            <a:avLst>
              <a:gd name="adj" fmla="val 963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62725" y="3009900"/>
            <a:ext cx="5019675" cy="809625"/>
          </a:xfrm>
          <a:prstGeom prst="roundRect">
            <a:avLst>
              <a:gd name="adj" fmla="val 1411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62725" y="3971925"/>
            <a:ext cx="5019675" cy="809625"/>
          </a:xfrm>
          <a:prstGeom prst="roundRect">
            <a:avLst>
              <a:gd name="adj" fmla="val 1411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0" y="3281362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4243387"/>
            <a:ext cx="33337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SECURITY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DevSecOps &amp; Image Vulnerability Scanning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014662"/>
            <a:ext cx="658832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Trivy Scanner 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405187"/>
            <a:ext cx="51149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Automated security gates integrated into GitHub workflow files ensure compromised builds never reach storage or cluster environments.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4138612"/>
            <a:ext cx="481012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JetBrains Mono"/>
              </a:rPr>
              <a:t>severity: 'CRITICAL,HIGH'</a:t>
            </a:r>
            <a:r>
              <a:t>
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 exit-code: '1'</a:t>
            </a:r>
            <a:r>
              <a:t>
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 vuln-type: 'os,library'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81850" y="3209925"/>
            <a:ext cx="42880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4532D"/>
                </a:solidFill>
                <a:latin typeface="Plus Jakarta Sans"/>
              </a:rPr>
              <a:t>0 Critical Vulnerabilities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81850" y="3448050"/>
            <a:ext cx="4083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66534"/>
                </a:solidFill>
                <a:latin typeface="Plus Jakarta Sans"/>
              </a:rPr>
              <a:t>Dependency trees completely verified and patched.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8525" y="4171950"/>
            <a:ext cx="49434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4532D"/>
                </a:solidFill>
                <a:latin typeface="Plus Jakarta Sans"/>
              </a:rPr>
              <a:t>Non-Root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48525" y="4410075"/>
            <a:ext cx="47744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66534"/>
                </a:solidFill>
                <a:latin typeface="Plus Jakarta Sans"/>
              </a:rPr>
              <a:t>NGINX unprivileged base image prevents privilege escalation.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19437"/>
            <a:ext cx="350520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19437"/>
            <a:ext cx="350520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19437"/>
            <a:ext cx="350520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95662"/>
            <a:ext cx="33337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395662"/>
            <a:ext cx="2381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395662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INFRASTRUCTURE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Terraform Infrastructure Provisioning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814762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VPC &amp; Subnet Topology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110037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Network ACLs and security group isolation definitions.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814762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Strict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4110037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100% formatted code with successful terraform validate execution.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814762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Route Table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4110037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Deterministic egress and ingress rule management.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57500"/>
            <a:ext cx="5343525" cy="2076450"/>
          </a:xfrm>
          <a:prstGeom prst="roundRect">
            <a:avLst>
              <a:gd name="adj" fmla="val 55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57925" y="3021508"/>
            <a:ext cx="5324475" cy="1748432"/>
          </a:xfrm>
          <a:prstGeom prst="roundRect">
            <a:avLst>
              <a:gd name="adj" fmla="val 653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CLOUD-NATIVE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Kubernetes Deployment via Helm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133725"/>
            <a:ext cx="628828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Helm Chart Package v0.1.0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625" y="3288208"/>
            <a:ext cx="5667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NAMESPACE STATUS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625" y="3612058"/>
            <a:ext cx="4886325" cy="891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0" sz="975" i="0" u="none">
                <a:solidFill>
                  <a:srgbClr val="E2E8F0"/>
                </a:solidFill>
                <a:latin typeface="JetBrains Mono"/>
              </a:rPr>
              <a:t>spendwise-backend-xxx   1/1 Running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spendwise-frontend-xxx  1/1 Running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spendwise-postgres-0    1/1 Running</a:t>
            </a:r>
            <a:r>
              <a:t>
</a:t>
            </a:r>
            <a:r>
              <a:rPr b="0" sz="975" i="0" u="none">
                <a:solidFill>
                  <a:srgbClr val="4ADE80"/>
                </a:solidFill>
                <a:latin typeface="JetBrains Mono"/>
              </a:rPr>
              <a:t>STATUS: Helm revision 1 deployed successfully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524250"/>
            <a:ext cx="4886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Declarative Workloads: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Manages backend, frontend &amp; database deployments.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4000500"/>
            <a:ext cx="59888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Service Exposing: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Configures cluster IP and NGINX Ingress rules.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295775"/>
            <a:ext cx="4886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Configuration Management: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Parameterized Chart values for environments.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38462"/>
            <a:ext cx="5334000" cy="1914525"/>
          </a:xfrm>
          <a:prstGeom prst="roundRect">
            <a:avLst>
              <a:gd name="adj" fmla="val 59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133725"/>
            <a:ext cx="5334000" cy="1524000"/>
          </a:xfrm>
          <a:prstGeom prst="roundRect">
            <a:avLst>
              <a:gd name="adj" fmla="val 75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625" y="3409950"/>
            <a:ext cx="478155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END-TO-END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Ingress Traffic Routing &amp; Live App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214687"/>
            <a:ext cx="62757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NGINX Controller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605212"/>
            <a:ext cx="48768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Traffic forwarded from port 8080 cleanly bridges host requests to internal Kubernetes services.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4148137"/>
            <a:ext cx="48768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Verified live expense tracking dashboard creating, listing, and filtering expense data against active PostgreSQL instances.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3905250"/>
            <a:ext cx="5667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40AF"/>
                </a:solidFill>
                <a:latin typeface="Plus Jakarta Sans"/>
              </a:rPr>
              <a:t>Verified Endpoint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4200525"/>
            <a:ext cx="5667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E3A8A"/>
                </a:solidFill>
                <a:latin typeface="Plus Jakarta Sans"/>
              </a:rPr>
              <a:t>http://127.0.0.1:8080/ • Operational UI 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14875" y="4429125"/>
            <a:ext cx="2762250" cy="447675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981200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1336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2798" y="2819400"/>
            <a:ext cx="11226403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Plus Jakarta Sans"/>
              </a:rPr>
              <a:t>Capstone Project Execution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552825"/>
            <a:ext cx="762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SpendWise microservices infrastructure fully verified, containerized, secured, and deployed.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98193" y="4543425"/>
            <a:ext cx="299561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Plus Jakarta Sans"/>
              </a:rPr>
              <a:t>Repository: DevOps-Final-10104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